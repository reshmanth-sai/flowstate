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457FF"/>
                </a:solidFill>
                <a:latin typeface="Inter"/>
              </a:defRPr>
            </a:pPr>
            <a:r>
              <a:t>// ACADEMIC PROJECT VIVA • PHASE-I EVALUATION •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66928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555555"/>
                </a:solidFill>
                <a:latin typeface="Inter"/>
              </a:defRPr>
            </a:pPr>
            <a:r>
              <a:t>RESEARCH DOMAIN: COGNITIVE ERGONOMICS &amp; CLOSED-LOOP HCI</a:t>
            </a:r>
          </a:p>
          <a:p>
            <a:pPr>
              <a:spcAft>
                <a:spcPts val="400"/>
              </a:spcAft>
              <a:defRPr sz="4800" b="1">
                <a:solidFill>
                  <a:srgbClr val="111111"/>
                </a:solidFill>
                <a:latin typeface="Helvetica Neue"/>
              </a:defRPr>
            </a:pPr>
            <a:r>
              <a:t>FLOWSTATE</a:t>
            </a:r>
          </a:p>
          <a:p>
            <a:pPr>
              <a:spcAft>
                <a:spcPts val="1000"/>
              </a:spcAft>
              <a:defRPr sz="1650" b="1">
                <a:solidFill>
                  <a:srgbClr val="2457FF"/>
                </a:solidFill>
                <a:latin typeface="Helvetica Neue"/>
              </a:defRPr>
            </a:pPr>
            <a:r>
              <a:t>A Multimodal, Context-Aware System for Personalized Adaptive Web Interfaces</a:t>
            </a:r>
          </a:p>
          <a:p>
            <a:pPr>
              <a:defRPr sz="1300">
                <a:solidFill>
                  <a:srgbClr val="555555"/>
                </a:solidFill>
                <a:latin typeface="Inter"/>
              </a:defRPr>
            </a:pPr>
            <a:r>
              <a:t>Closed-loop cognitive workload estimation and non-intrusive biocybernetic adaptation using consumer wearables and browser interaction telemetry.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097280"/>
            <a:ext cx="4785055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earable_devic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4693615" cy="2834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4160520"/>
            <a:ext cx="10728655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1111"/>
                </a:solidFill>
                <a:latin typeface="Inter"/>
              </a:defRPr>
            </a:pPr>
            <a:r>
              <a:t>HARDWARE BOUNDARY: Consumer BLE Smartwatch (PPG 0x180D) + Browser Telemetry   |   TEMPORAL: 30s Sliding Windows</a:t>
            </a:r>
            <a:br/>
            <a:r>
              <a:t>TARGET CONSTRUCTS: Workload • Fatigue • Engagement (Tri-State)   |   SAFEGUARDS: 7-Step Provenance Trace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92040"/>
            <a:ext cx="5669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56048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457FF"/>
                </a:solidFill>
                <a:latin typeface="Inter"/>
              </a:defRPr>
            </a:pPr>
            <a:r>
              <a:t>STUDENT RESEARCH TEAM</a:t>
            </a:r>
          </a:p>
          <a:p>
            <a:pPr>
              <a:defRPr sz="1200" b="1">
                <a:solidFill>
                  <a:srgbClr val="111111"/>
                </a:solidFill>
                <a:latin typeface="Inter"/>
              </a:defRPr>
            </a:pPr>
            <a:r>
              <a:t>• Naidu Reshmanth Sai  —  25BCE1112</a:t>
            </a:r>
          </a:p>
          <a:p>
            <a:pPr>
              <a:defRPr sz="1200" b="1">
                <a:solidFill>
                  <a:srgbClr val="111111"/>
                </a:solidFill>
                <a:latin typeface="Inter"/>
              </a:defRPr>
            </a:pPr>
            <a:r>
              <a:t>• Sri Priyan D  —  25BCE1074</a:t>
            </a:r>
          </a:p>
          <a:p>
            <a:pPr>
              <a:defRPr sz="1200" b="1">
                <a:solidFill>
                  <a:srgbClr val="111111"/>
                </a:solidFill>
                <a:latin typeface="Inter"/>
              </a:defRPr>
            </a:pPr>
            <a:r>
              <a:t>• Vinayak V  —  25BCExxxx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4892040"/>
            <a:ext cx="478505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956048"/>
            <a:ext cx="4389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457FF"/>
                </a:solidFill>
                <a:latin typeface="Inter"/>
              </a:defRPr>
            </a:pPr>
            <a:r>
              <a:t>FACULTY PROJECT SUPERVISION</a:t>
            </a:r>
          </a:p>
          <a:p>
            <a:pPr>
              <a:defRPr sz="1600" b="1">
                <a:solidFill>
                  <a:srgbClr val="111111"/>
                </a:solidFill>
                <a:latin typeface="Inter"/>
              </a:defRPr>
            </a:pPr>
            <a:r>
              <a:t>Dr. Sudheer Kumar</a:t>
            </a:r>
          </a:p>
          <a:p>
            <a:pPr>
              <a:defRPr sz="1100">
                <a:solidFill>
                  <a:srgbClr val="555555"/>
                </a:solidFill>
                <a:latin typeface="Inter"/>
              </a:defRPr>
            </a:pPr>
            <a:r>
              <a:t>School of Computer Science &amp; Engineering (SCOPE)</a:t>
            </a:r>
            <a:br/>
            <a:r>
              <a:t>Faculty Project Supervisor • Phase-I Capstone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43737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28282"/>
                </a:solidFill>
                <a:latin typeface="Inter"/>
              </a:defRPr>
            </a:pPr>
            <a:r>
              <a:t>FLOWSTATE RESEARCH PLATFORM   |   PHASE-I EVALUATION   |   SUPERVISOR: DR. SUDHEER KUMAR                                                     SLIDE 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// 02 // PRESENTATION ROADMAP</a:t>
            </a:r>
          </a:p>
          <a:p>
            <a:pPr>
              <a:spcAft>
                <a:spcPts val="200"/>
              </a:spcAft>
              <a:defRPr sz="2600" b="1">
                <a:solidFill>
                  <a:srgbClr val="111111"/>
                </a:solidFill>
                <a:latin typeface="Helvetica Neue"/>
              </a:defRPr>
            </a:pPr>
            <a:r>
              <a:t>Agenda &amp; Research Progression</a:t>
            </a:r>
          </a:p>
          <a:p>
            <a:pPr>
              <a:defRPr sz="1300">
                <a:solidFill>
                  <a:srgbClr val="555555"/>
                </a:solidFill>
                <a:latin typeface="Inter"/>
              </a:defRPr>
            </a:pPr>
            <a:r>
              <a:t>Structured trajectory from theoretical cognitive foundations to a functioning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6459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005840" cy="1371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57FF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874520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11111"/>
                </a:solidFill>
                <a:latin typeface="Inter"/>
              </a:defRPr>
            </a:pPr>
            <a:r>
              <a:t>INTRODUCTION &amp; PROBLEM MOTIVATION</a:t>
            </a:r>
          </a:p>
          <a:p>
            <a:pPr>
              <a:defRPr sz="1100">
                <a:solidFill>
                  <a:srgbClr val="555555"/>
                </a:solidFill>
                <a:latin typeface="Inter"/>
              </a:defRPr>
            </a:pPr>
            <a:r>
              <a:t>Cognitive overload in digital workspaces, human-computer friction, and limitations of static interfaces.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200400"/>
            <a:ext cx="1005840" cy="1371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57FF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383280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11111"/>
                </a:solidFill>
                <a:latin typeface="Inter"/>
              </a:defRPr>
            </a:pPr>
            <a:r>
              <a:t>LITERATURE SURVEY &amp; THEORETICAL BASELINE</a:t>
            </a:r>
          </a:p>
          <a:p>
            <a:pPr>
              <a:defRPr sz="1100">
                <a:solidFill>
                  <a:srgbClr val="555555"/>
                </a:solidFill>
                <a:latin typeface="Inter"/>
              </a:defRPr>
            </a:pPr>
            <a:r>
              <a:t>Critical analysis of 5 foundational studies in physiological computing, WESAD stress detection, and CLT.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70916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709160"/>
            <a:ext cx="1005840" cy="1371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57FF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892040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11111"/>
                </a:solidFill>
                <a:latin typeface="Inter"/>
              </a:defRPr>
            </a:pPr>
            <a:r>
              <a:t>CHALLENGES &amp; TECHNICAL RESEARCH GAP</a:t>
            </a:r>
          </a:p>
          <a:p>
            <a:pPr>
              <a:defRPr sz="1100">
                <a:solidFill>
                  <a:srgbClr val="555555"/>
                </a:solidFill>
                <a:latin typeface="Inter"/>
              </a:defRPr>
            </a:pPr>
            <a:r>
              <a:t>Hardware invasiveness, inter-subject baseline drift, wrist sensor noise, and biocybernetic UI oscillation.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93815" y="169164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93815" y="1691640"/>
            <a:ext cx="1005840" cy="1371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57FF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2535" y="1874520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11111"/>
                </a:solidFill>
                <a:latin typeface="Inter"/>
              </a:defRPr>
            </a:pPr>
            <a:r>
              <a:t>PROJECT OBJECTIVES &amp; SCOPE BOUNDARIES</a:t>
            </a:r>
          </a:p>
          <a:p>
            <a:pPr>
              <a:defRPr sz="1100">
                <a:solidFill>
                  <a:srgbClr val="555555"/>
                </a:solidFill>
                <a:latin typeface="Inter"/>
              </a:defRPr>
            </a:pPr>
            <a:r>
              <a:t>Five verifiable engineering milestones: dual-stream ingestion, baseline deltas, tri-state inference, explainability, adaptation.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3815" y="320040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3815" y="3200400"/>
            <a:ext cx="1005840" cy="1371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57FF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2535" y="3383280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11111"/>
                </a:solidFill>
                <a:latin typeface="Inter"/>
              </a:defRPr>
            </a:pPr>
            <a:r>
              <a:t>SYSTEM ARCHITECTURE &amp; PROPOSED METHODOLOGY</a:t>
            </a:r>
          </a:p>
          <a:p>
            <a:pPr>
              <a:defRPr sz="1100">
                <a:solidFill>
                  <a:srgbClr val="555555"/>
                </a:solidFill>
                <a:latin typeface="Inter"/>
              </a:defRPr>
            </a:pPr>
            <a:r>
              <a:t>Full 6-tier pipeline: canonical ingestion → quality gating → 30s window sync → multimodal fusion → adaptation.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3815" y="4709160"/>
            <a:ext cx="5166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3815" y="4709160"/>
            <a:ext cx="1005840" cy="13716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2457FF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2535" y="4892040"/>
            <a:ext cx="38404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11111"/>
                </a:solidFill>
                <a:latin typeface="Inter"/>
              </a:defRPr>
            </a:pPr>
            <a:r>
              <a:t>RESULTS &amp; INITIAL IMPLEMENTATION (38% DONE)</a:t>
            </a:r>
          </a:p>
          <a:p>
            <a:pPr>
              <a:defRPr sz="1100">
                <a:solidFill>
                  <a:srgbClr val="555555"/>
                </a:solidFill>
                <a:latin typeface="Inter"/>
              </a:defRPr>
            </a:pPr>
            <a:r>
              <a:t>Verified vertical slice: 37 passing unit tests, 5-phase deterministic scenario, and interactive cognitive task.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3737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28282"/>
                </a:solidFill>
                <a:latin typeface="Inter"/>
              </a:defRPr>
            </a:pPr>
            <a:r>
              <a:t>FLOWSTATE RESEARCH PLATFORM   |   PHASE-I EVALUATION   |   SUPERVISOR: DR. SUDHEER KUMAR                                                     SLIDE 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// 03 // PROBLEM CONTEXT &amp; MOTIVATION</a:t>
            </a:r>
          </a:p>
          <a:p>
            <a:pPr>
              <a:spcAft>
                <a:spcPts val="200"/>
              </a:spcAft>
              <a:defRPr sz="2600" b="1">
                <a:solidFill>
                  <a:srgbClr val="111111"/>
                </a:solidFill>
                <a:latin typeface="Helvetica Neue"/>
              </a:defRPr>
            </a:pPr>
            <a:r>
              <a:t>Cognitive Friction in Modern Digital Workspaces</a:t>
            </a:r>
          </a:p>
          <a:p>
            <a:pPr>
              <a:defRPr sz="1300">
                <a:solidFill>
                  <a:srgbClr val="555555"/>
                </a:solidFill>
                <a:latin typeface="Inter"/>
              </a:defRPr>
            </a:pPr>
            <a:r>
              <a:t>Bridging the sensory disconnect between static web interfaces and human mental 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6459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6692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53035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01 THE PROBLEM: UNNOTICED COGNITIVE OVERLOAD</a:t>
            </a:r>
          </a:p>
          <a:p>
            <a:pPr>
              <a:defRPr sz="1050">
                <a:solidFill>
                  <a:srgbClr val="111111"/>
                </a:solidFill>
                <a:latin typeface="Inter"/>
              </a:defRPr>
            </a:pPr>
            <a:r>
              <a:t>• Mental exhaustion accumulates invisibly during high-density web work.</a:t>
            </a:r>
            <a:br/>
            <a:r>
              <a:t>• Task error rates escalate by up to 40% when cognitive limits are exceeded.</a:t>
            </a:r>
            <a:br/>
            <a:r>
              <a:t>• Users fail to self-regulate early enough because the brain lacks explicit feedback.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54680"/>
            <a:ext cx="56692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64408"/>
            <a:ext cx="53035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02 EXISTING LIMITATIONS: INVASIVE OR OBLIVIOUS TOOLS</a:t>
            </a:r>
          </a:p>
          <a:p>
            <a:pPr>
              <a:defRPr sz="1050">
                <a:solidFill>
                  <a:srgbClr val="111111"/>
                </a:solidFill>
                <a:latin typeface="Inter"/>
              </a:defRPr>
            </a:pPr>
            <a:r>
              <a:t>• Traditional Web UIs are completely static—treating exhausted users identically to rested ones.</a:t>
            </a:r>
            <a:br/>
            <a:r>
              <a:t>• Past physiological computing mandates invasive EEG caps or fNIRS headbands.</a:t>
            </a:r>
            <a:br/>
            <a:r>
              <a:t>• Conventional timers (e.g. Pomodoro) rely on rigid clocks without biological awareness.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617720"/>
            <a:ext cx="566928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27448"/>
            <a:ext cx="53035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03 OUR SOLUTION: CLOSED-LOOP BIOCYBERNETICS</a:t>
            </a:r>
          </a:p>
          <a:p>
            <a:pPr>
              <a:defRPr sz="1050">
                <a:solidFill>
                  <a:srgbClr val="111111"/>
                </a:solidFill>
                <a:latin typeface="Inter"/>
              </a:defRPr>
            </a:pPr>
            <a:r>
              <a:t>• Fuses consumer smartwatch PPG signals with natural browser interaction telemetry.</a:t>
            </a:r>
            <a:br/>
            <a:r>
              <a:t>• Dynamic baseline calibration calculates individualized resting deltas (ΔHR, RMSSD).</a:t>
            </a:r>
            <a:br/>
            <a:r>
              <a:t>• Drives explainable, bounded UI adaptations (pacing, micro-breaks) to preserve flow state.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691640"/>
            <a:ext cx="4785055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gnitive_loop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37360"/>
            <a:ext cx="4693615" cy="30632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75120" y="4983480"/>
            <a:ext cx="4785055" cy="1261872"/>
          </a:xfrm>
          <a:prstGeom prst="rect">
            <a:avLst/>
          </a:prstGeom>
          <a:solidFill>
            <a:srgbClr val="EEF2FF"/>
          </a:solidFill>
          <a:ln w="12700"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5074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THE BIOCYBERNETIC ADAPTATION LOOP (HCI)</a:t>
            </a:r>
          </a:p>
          <a:p>
            <a:pPr>
              <a:defRPr sz="1000" b="1">
                <a:solidFill>
                  <a:srgbClr val="111111"/>
                </a:solidFill>
                <a:latin typeface="Courier New"/>
              </a:defRPr>
            </a:pPr>
            <a:r>
              <a:t>[Operator] ──► [PPG + Telemetry Ingestion] ──► [30s Window Sync] ──► [Tri-State Inference] ──► [Bounded Adaptive UI] ──► [Cognitive Relief]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3737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28282"/>
                </a:solidFill>
                <a:latin typeface="Inter"/>
              </a:defRPr>
            </a:pPr>
            <a:r>
              <a:t>FLOWSTATE RESEARCH PLATFORM   |   PHASE-I EVALUATION   |   SUPERVISOR: DR. SUDHEER KUMAR                                                     SLIDE 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// 04 // THEORETICAL FOUNDATIONS</a:t>
            </a:r>
          </a:p>
          <a:p>
            <a:pPr>
              <a:spcAft>
                <a:spcPts val="200"/>
              </a:spcAft>
              <a:defRPr sz="2600" b="1">
                <a:solidFill>
                  <a:srgbClr val="111111"/>
                </a:solidFill>
                <a:latin typeface="Helvetica Neue"/>
              </a:defRPr>
            </a:pPr>
            <a:r>
              <a:t>Academic Literature Survey</a:t>
            </a:r>
          </a:p>
          <a:p>
            <a:pPr>
              <a:defRPr sz="1300">
                <a:solidFill>
                  <a:srgbClr val="555555"/>
                </a:solidFill>
                <a:latin typeface="Inter"/>
              </a:defRPr>
            </a:pPr>
            <a:r>
              <a:t>Synthesis of five foundational studies establishing the physiological computing baseline and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6459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91640"/>
          <a:ext cx="10728655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731520"/>
                <a:gridCol w="3657600"/>
                <a:gridCol w="3779215"/>
              </a:tblGrid>
              <a:tr h="6629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Paper &amp; Authors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Methodology &amp; Key Findings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Limitation &amp; Relevance to Flowstate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457FF"/>
                          </a:solidFill>
                          <a:latin typeface="Inter"/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Schmidt et al.</a:t>
                      </a:r>
                      <a:br/>
                      <a:r>
                        <a:t>(ACM IMWUT / UbiComp)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WESAD dataset: Wrist PPG + Chest ECG under controlled affective stress induction (15 subjects).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Limitation: Lab-only; lacks real-time web UI integration.</a:t>
                      </a:r>
                      <a:br/>
                      <a:r>
                        <a:t>Relevance: Reference external dataset for physiological validation.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457FF"/>
                          </a:solidFill>
                          <a:latin typeface="Inter"/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Fairclough, S. H.</a:t>
                      </a:r>
                      <a:br/>
                      <a:r>
                        <a:t>(Int. J. Human-Comp. Stud.)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2009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Theoretical biocybernetic loop model connecting physiological signals to automation.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Limitation: Purely theoretical; omits sensor noise &amp; UI thrashing.</a:t>
                      </a:r>
                      <a:br/>
                      <a:r>
                        <a:t>Relevance: Mathematical foundation for closed-loop hysteresis control.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457FF"/>
                          </a:solidFill>
                          <a:latin typeface="Inter"/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Charles &amp; Nixon</a:t>
                      </a:r>
                      <a:br/>
                      <a:r>
                        <a:t>(Theor. Issues Ergon. Sci.)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Meta-survey of cardiac measures (HRV, PPG) for mental workload quantification.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Limitation: Universal static thresholds fail due to baseline diversity.</a:t>
                      </a:r>
                      <a:br/>
                      <a:r>
                        <a:t>Relevance: Justifies our 30s sliding-window baseline delta (ΔHR).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457FF"/>
                          </a:solidFill>
                          <a:latin typeface="Inter"/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Kosch et al.</a:t>
                      </a:r>
                      <a:br/>
                      <a:r>
                        <a:t>(ACM Computing Surveys)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Systematic analysis of consumer smartwatch biosensors in everyday desktop HCI tasks.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Limitation: Wrist motion artifacts and Bluetooth packet drops.</a:t>
                      </a:r>
                      <a:br/>
                      <a:r>
                        <a:t>Relevance: Motivates our dual-stream wearable + task telemetry fusion.</a:t>
                      </a:r>
                    </a:p>
                  </a:txBody>
                  <a:tcPr>
                    <a:solidFill>
                      <a:srgbClr val="FAFAF7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457FF"/>
                          </a:solidFill>
                          <a:latin typeface="Inter"/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Sweller / Paas et al.</a:t>
                      </a:r>
                      <a:br/>
                      <a:r>
                        <a:t>(Cognitive Science)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555555"/>
                          </a:solidFill>
                          <a:latin typeface="Inter"/>
                        </a:defRPr>
                      </a:pPr>
                      <a:r>
                        <a:t>2003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Cognitive Load Theory: Intrinsic, extraneous, and germane cognitive load dimensions.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11111"/>
                          </a:solidFill>
                          <a:latin typeface="Inter"/>
                        </a:defRPr>
                      </a:pPr>
                      <a:r>
                        <a:t>Limitation: Pure behavioral metrics cannot detect hidden internal strain.</a:t>
                      </a:r>
                      <a:br/>
                      <a:r>
                        <a:t>Relevance: Defines our tri-state target constructs (Workload, Fatigue, Engagement).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5760720"/>
            <a:ext cx="1072865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36289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457FF"/>
                </a:solidFill>
                <a:latin typeface="Inter"/>
              </a:defRPr>
            </a:pPr>
            <a:r>
              <a:t>CRITICAL SYNTHESIS: Prior work establishes physiological sensitivity, but leaves a critical gap in non-invasive, noise-tolerant consumer deployment with backward explainability and biocybernetic stability.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3737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28282"/>
                </a:solidFill>
                <a:latin typeface="Inter"/>
              </a:defRPr>
            </a:pPr>
            <a:r>
              <a:t>FLOWSTATE RESEARCH PLATFORM   |   PHASE-I EVALUATION   |   SUPERVISOR: DR. SUDHEER KUMAR                                                     SLIDE 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// 05 // CRITICAL ANALYSIS</a:t>
            </a:r>
          </a:p>
          <a:p>
            <a:pPr>
              <a:spcAft>
                <a:spcPts val="200"/>
              </a:spcAft>
              <a:defRPr sz="2600" b="1">
                <a:solidFill>
                  <a:srgbClr val="111111"/>
                </a:solidFill>
                <a:latin typeface="Helvetica Neue"/>
              </a:defRPr>
            </a:pPr>
            <a:r>
              <a:t>Challenges &amp; Formulated Research Gap</a:t>
            </a:r>
          </a:p>
          <a:p>
            <a:pPr>
              <a:defRPr sz="1300">
                <a:solidFill>
                  <a:srgbClr val="555555"/>
                </a:solidFill>
                <a:latin typeface="Inter"/>
              </a:defRPr>
            </a:pPr>
            <a:r>
              <a:t>Overcoming four core bottlenecks that prevent laboratory physiological computing from reaching consumer web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6459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01 HARDWARE INVASIVENESS</a:t>
            </a:r>
          </a:p>
          <a:p>
            <a:pPr>
              <a:defRPr sz="1000">
                <a:solidFill>
                  <a:srgbClr val="111111"/>
                </a:solidFill>
                <a:latin typeface="Inter"/>
              </a:defRPr>
            </a:pPr>
            <a:r>
              <a:t>Barrier: Mandates clinical EEG caps or chest straps unacceptable for daily work.</a:t>
            </a:r>
            <a:br/>
            <a:r>
              <a:t>Solution: Strict consumer boundary (standard browser + BLE smartwatch PPG 0x180D).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70632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43784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02 INTER-SUBJECT VARIABILITY</a:t>
            </a:r>
          </a:p>
          <a:p>
            <a:pPr>
              <a:defRPr sz="1000">
                <a:solidFill>
                  <a:srgbClr val="111111"/>
                </a:solidFill>
                <a:latin typeface="Inter"/>
              </a:defRPr>
            </a:pPr>
            <a:r>
              <a:t>Barrier: Resting HR varies from 50 to 90 bpm; universal static thresholds trigger false alarms.</a:t>
            </a:r>
            <a:br/>
            <a:r>
              <a:t>Solution: Continuous personalized calibration computing resting deltas (ΔHR = HR - HR_rest).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9624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22776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03 SENSOR NOISE &amp; DROPOUTS</a:t>
            </a:r>
          </a:p>
          <a:p>
            <a:pPr>
              <a:defRPr sz="1000">
                <a:solidFill>
                  <a:srgbClr val="111111"/>
                </a:solidFill>
                <a:latin typeface="Inter"/>
              </a:defRPr>
            </a:pPr>
            <a:r>
              <a:t>Barrier: Wrist motion causes packet drops; zero-filling missing streams corrupts models.</a:t>
            </a:r>
            <a:br/>
            <a:r>
              <a:t>Solution: Explicit availability_mask routing with tri-branch fallback (Wearable, Task, Fused).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928616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01768"/>
            <a:ext cx="530352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04 UI OSCILLATION &amp; BLACK-BOX AI</a:t>
            </a:r>
          </a:p>
          <a:p>
            <a:pPr>
              <a:defRPr sz="1000">
                <a:solidFill>
                  <a:srgbClr val="111111"/>
                </a:solidFill>
                <a:latin typeface="Inter"/>
              </a:defRPr>
            </a:pPr>
            <a:r>
              <a:t>Barrier: Black-box AI causes biocybernetic thrashing without explainability.</a:t>
            </a:r>
            <a:br/>
            <a:r>
              <a:t>Solution: 7-step Follow-the-Signal audit trace + bounded hysteresis with cooldowns.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691640"/>
            <a:ext cx="4785055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esearch_gap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737360"/>
            <a:ext cx="4693615" cy="256032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675120" y="4434840"/>
            <a:ext cx="4785055" cy="1810512"/>
          </a:xfrm>
          <a:prstGeom prst="rect">
            <a:avLst/>
          </a:prstGeom>
          <a:solidFill>
            <a:srgbClr val="EEF2FF"/>
          </a:solidFill>
          <a:ln w="12700"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4526280"/>
            <a:ext cx="43891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THE CORE FORMULATED RESEARCH GAP:</a:t>
            </a:r>
          </a:p>
          <a:p>
            <a:pPr>
              <a:defRPr sz="1200" b="1">
                <a:solidFill>
                  <a:srgbClr val="111111"/>
                </a:solidFill>
                <a:latin typeface="Inter"/>
              </a:defRPr>
            </a:pPr>
            <a:r>
              <a:t>"The absence of an explainable, noise-tolerant biocybernetic framework that reliably estimates multidimensional cognitive states from consumer-grade wearables and desktop telemetry without requiring clinical invasiveness, zero-filled signal corruption, or disruptive interface oscillation."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43737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28282"/>
                </a:solidFill>
                <a:latin typeface="Inter"/>
              </a:defRPr>
            </a:pPr>
            <a:r>
              <a:t>FLOWSTATE RESEARCH PLATFORM   |   PHASE-I EVALUATION   |   SUPERVISOR: DR. SUDHEER KUMAR                                                     SLIDE 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// 06 // SCOPE &amp; DELIVERABLES</a:t>
            </a:r>
          </a:p>
          <a:p>
            <a:pPr>
              <a:spcAft>
                <a:spcPts val="200"/>
              </a:spcAft>
              <a:defRPr sz="2600" b="1">
                <a:solidFill>
                  <a:srgbClr val="111111"/>
                </a:solidFill>
                <a:latin typeface="Helvetica Neue"/>
              </a:defRPr>
            </a:pPr>
            <a:r>
              <a:t>Project Objectives &amp; Technical Scope</a:t>
            </a:r>
          </a:p>
          <a:p>
            <a:pPr>
              <a:defRPr sz="1300">
                <a:solidFill>
                  <a:srgbClr val="555555"/>
                </a:solidFill>
                <a:latin typeface="Inter"/>
              </a:defRPr>
            </a:pPr>
            <a:r>
              <a:t>Five precise, measurable, and implementation-oriented engineering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6459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91640"/>
            <a:ext cx="118872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457FF"/>
                </a:solidFill>
                <a:latin typeface="Helvetica Neue"/>
              </a:defRPr>
            </a:pPr>
            <a:r>
              <a:t>OBJ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783080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ENGINEER DUAL-STREAM INGESTION &amp; SYNCHRONIZATION PIPELINE</a:t>
            </a:r>
          </a:p>
          <a:p>
            <a:pPr>
              <a:defRPr sz="1050">
                <a:solidFill>
                  <a:srgbClr val="555555"/>
                </a:solidFill>
                <a:latin typeface="Inter"/>
              </a:defRPr>
            </a:pPr>
            <a:r>
              <a:t>Ingest consumer BLE smartwatch PPG (Bluetooth GATT Service 0x180D) and browser task interaction telemetry, synchronizing data into non-leaking 30-second sliding windows with timestamp verification and gap handling.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70048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70048"/>
            <a:ext cx="118872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457FF"/>
                </a:solidFill>
                <a:latin typeface="Helvetica Neue"/>
              </a:defRPr>
            </a:pPr>
            <a:r>
              <a:t>OBJ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761488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IMPLEMENT INDIVIDUALIZED BASELINE CALIBRATION &amp; DELTA EXTRACTION</a:t>
            </a:r>
          </a:p>
          <a:p>
            <a:pPr>
              <a:defRPr sz="1050">
                <a:solidFill>
                  <a:srgbClr val="555555"/>
                </a:solidFill>
                <a:latin typeface="Inter"/>
              </a:defRPr>
            </a:pPr>
            <a:r>
              <a:t>Compute normalized physiological deltas (ΔHR = HR_curr - HR_rest) against personalized resting baselines to neutralize inter-subject variance, supported by an explicit missing-modality mask (availability_mask).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48456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48456"/>
            <a:ext cx="118872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457FF"/>
                </a:solidFill>
                <a:latin typeface="Helvetica Neue"/>
              </a:defRPr>
            </a:pPr>
            <a:r>
              <a:t>OBJ 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739896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DEVELOP TRI-STATE MULTIMODAL INFERENCE &amp; CONFIDENCE GATING</a:t>
            </a:r>
          </a:p>
          <a:p>
            <a:pPr>
              <a:defRPr sz="1050">
                <a:solidFill>
                  <a:srgbClr val="555555"/>
                </a:solidFill>
                <a:latin typeface="Inter"/>
              </a:defRPr>
            </a:pPr>
            <a:r>
              <a:t>Implement baseline classification models estimating three independent cognitive constructs—Workload, Fatigue, and Engagement—accompanied by quality gating (PASS, DEGRADED, INSUFFICIENT) rather than ungrounded black-box predictions.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26864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26864"/>
            <a:ext cx="118872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457FF"/>
                </a:solidFill>
                <a:latin typeface="Helvetica Neue"/>
              </a:defRPr>
            </a:pPr>
            <a:r>
              <a:t>OBJ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718304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ARCHITECT 7-STAGE 'FOLLOW-THE-SIGNAL' EXPLANATION PIPELINE</a:t>
            </a:r>
          </a:p>
          <a:p>
            <a:pPr>
              <a:defRPr sz="1050">
                <a:solidFill>
                  <a:srgbClr val="555555"/>
                </a:solidFill>
                <a:latin typeface="Inter"/>
              </a:defRPr>
            </a:pPr>
            <a:r>
              <a:t>Establish a transparent, non-causal evidence attribution audit trail allowing users to trace any UI intervention backwards through 7 verification stages to the exact raw sensor events that triggered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605272"/>
            <a:ext cx="1072865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605272"/>
            <a:ext cx="1188720" cy="8686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457FF"/>
                </a:solidFill>
                <a:latin typeface="Helvetica Neue"/>
              </a:defRPr>
            </a:pPr>
            <a:r>
              <a:t>OBJ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696712"/>
            <a:ext cx="91440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DEPLOY CLOSED-LOOP ADAPTIVE WEB INTERFACE WITH HYSTERESIS</a:t>
            </a:r>
          </a:p>
          <a:p>
            <a:pPr>
              <a:defRPr sz="1050">
                <a:solidFill>
                  <a:srgbClr val="555555"/>
                </a:solidFill>
                <a:latin typeface="Inter"/>
              </a:defRPr>
            </a:pPr>
            <a:r>
              <a:t>Deliver bounded, non-disruptive web UI interventions (micro-break prompts, task difficulty modulation, notification throttling) governed by hysteresis thresholds and cooldown timers to prevent interface thrashing.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3737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28282"/>
                </a:solidFill>
                <a:latin typeface="Inter"/>
              </a:defRPr>
            </a:pPr>
            <a:r>
              <a:t>FLOWSTATE RESEARCH PLATFORM   |   PHASE-I EVALUATION   |   SUPERVISOR: DR. SUDHEER KUMAR                                                     SLIDE 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// 07 // SYSTEM ARCHITECTURE &amp; METHODOLOGY</a:t>
            </a:r>
          </a:p>
          <a:p>
            <a:pPr>
              <a:spcAft>
                <a:spcPts val="200"/>
              </a:spcAft>
              <a:defRPr sz="2600" b="1">
                <a:solidFill>
                  <a:srgbClr val="111111"/>
                </a:solidFill>
                <a:latin typeface="Helvetica Neue"/>
              </a:defRPr>
            </a:pPr>
            <a:r>
              <a:t>End-to-End Multimodal Pipeline Architecture</a:t>
            </a:r>
          </a:p>
          <a:p>
            <a:pPr>
              <a:defRPr sz="1300">
                <a:solidFill>
                  <a:srgbClr val="555555"/>
                </a:solidFill>
                <a:latin typeface="Inter"/>
              </a:defRPr>
            </a:pPr>
            <a:r>
              <a:t>Dual-stream ingestion, 30s window synchronization, tri-state inference, and closed-loop adaptation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6459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10728655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10637215" cy="2240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4160520"/>
            <a:ext cx="1664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1481328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457FF"/>
                </a:solidFill>
                <a:latin typeface="Inter"/>
              </a:defRPr>
            </a:pPr>
            <a:r>
              <a:t>STAGE 01</a:t>
            </a:r>
          </a:p>
          <a:p>
            <a:pPr>
              <a:spcAft>
                <a:spcPts val="4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Dual Inputs</a:t>
            </a:r>
          </a:p>
          <a:p>
            <a:pPr>
              <a:defRPr sz="1000">
                <a:solidFill>
                  <a:srgbClr val="555555"/>
                </a:solidFill>
                <a:latin typeface="Inter"/>
              </a:defRPr>
            </a:pPr>
            <a:r>
              <a:t>• BLE Smartwatch (PPG 0x180D, RR)</a:t>
            </a:r>
            <a:br/>
            <a:r>
              <a:t>• Browser Task Telemetry (Latency, Errors)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2032" y="4160520"/>
            <a:ext cx="1664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4251960"/>
            <a:ext cx="1481328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457FF"/>
                </a:solidFill>
                <a:latin typeface="Inter"/>
              </a:defRPr>
            </a:pPr>
            <a:r>
              <a:t>STAGE 02</a:t>
            </a:r>
          </a:p>
          <a:p>
            <a:pPr>
              <a:spcAft>
                <a:spcPts val="4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Quality Gating</a:t>
            </a:r>
          </a:p>
          <a:p>
            <a:pPr>
              <a:defRPr sz="1000">
                <a:solidFill>
                  <a:srgbClr val="555555"/>
                </a:solidFill>
                <a:latin typeface="Inter"/>
              </a:defRPr>
            </a:pPr>
            <a:r>
              <a:t>• Plausibility Checks (40–200 bpm)</a:t>
            </a:r>
            <a:br/>
            <a:r>
              <a:t>• Explicit availability_mask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4160520"/>
            <a:ext cx="1664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4251960"/>
            <a:ext cx="1481328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457FF"/>
                </a:solidFill>
                <a:latin typeface="Inter"/>
              </a:defRPr>
            </a:pPr>
            <a:r>
              <a:t>STAGE 03</a:t>
            </a:r>
          </a:p>
          <a:p>
            <a:pPr>
              <a:spcAft>
                <a:spcPts val="4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30s Windows</a:t>
            </a:r>
          </a:p>
          <a:p>
            <a:pPr>
              <a:defRPr sz="1000">
                <a:solidFill>
                  <a:srgbClr val="555555"/>
                </a:solidFill>
                <a:latin typeface="Inter"/>
              </a:defRPr>
            </a:pPr>
            <a:r>
              <a:t>• 30s Sliding Windows (5s step)</a:t>
            </a:r>
            <a:br/>
            <a:r>
              <a:t>• Zero future-data leakage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4160520"/>
            <a:ext cx="1664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4251960"/>
            <a:ext cx="1481328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457FF"/>
                </a:solidFill>
                <a:latin typeface="Inter"/>
              </a:defRPr>
            </a:pPr>
            <a:r>
              <a:t>STAGE 04</a:t>
            </a:r>
          </a:p>
          <a:p>
            <a:pPr>
              <a:spcAft>
                <a:spcPts val="4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Personalization</a:t>
            </a:r>
          </a:p>
          <a:p>
            <a:pPr>
              <a:defRPr sz="1000">
                <a:solidFill>
                  <a:srgbClr val="555555"/>
                </a:solidFill>
                <a:latin typeface="Inter"/>
              </a:defRPr>
            </a:pPr>
            <a:r>
              <a:t>• Baseline Delta (ΔHR = HR - HR_rest)</a:t>
            </a:r>
            <a:br/>
            <a:r>
              <a:t>• Tri-Branch Fusion (Wearable, Task, Fused)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3568" y="4160520"/>
            <a:ext cx="1664208" cy="2057400"/>
          </a:xfrm>
          <a:prstGeom prst="rect">
            <a:avLst/>
          </a:prstGeom>
          <a:solidFill>
            <a:srgbClr val="EEF2FF"/>
          </a:solidFill>
          <a:ln w="12700"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4251960"/>
            <a:ext cx="1481328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457FF"/>
                </a:solidFill>
                <a:latin typeface="Inter"/>
              </a:defRPr>
            </a:pPr>
            <a:r>
              <a:t>STAGE 05</a:t>
            </a:r>
          </a:p>
          <a:p>
            <a:pPr>
              <a:spcAft>
                <a:spcPts val="4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Tri-State ML</a:t>
            </a:r>
          </a:p>
          <a:p>
            <a:pPr>
              <a:defRPr sz="1000">
                <a:solidFill>
                  <a:srgbClr val="555555"/>
                </a:solidFill>
                <a:latin typeface="Inter"/>
              </a:defRPr>
            </a:pPr>
            <a:r>
              <a:t>• Confidence Gating: PASS/DEGRADED</a:t>
            </a:r>
            <a:br/>
            <a:r>
              <a:t>• Workload, Fatigue, 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784080" y="4160520"/>
            <a:ext cx="1664208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4251960"/>
            <a:ext cx="1481328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457FF"/>
                </a:solidFill>
                <a:latin typeface="Inter"/>
              </a:defRPr>
            </a:pPr>
            <a:r>
              <a:t>STAGE 06</a:t>
            </a:r>
          </a:p>
          <a:p>
            <a:pPr>
              <a:spcAft>
                <a:spcPts val="400"/>
              </a:spcAft>
              <a:defRPr sz="1200" b="1">
                <a:solidFill>
                  <a:srgbClr val="111111"/>
                </a:solidFill>
                <a:latin typeface="Inter"/>
              </a:defRPr>
            </a:pPr>
            <a:r>
              <a:t>Adaptive UI</a:t>
            </a:r>
          </a:p>
          <a:p>
            <a:pPr>
              <a:defRPr sz="1000">
                <a:solidFill>
                  <a:srgbClr val="555555"/>
                </a:solidFill>
                <a:latin typeface="Inter"/>
              </a:defRPr>
            </a:pPr>
            <a:r>
              <a:t>• 7-Step Evidence Trace</a:t>
            </a:r>
            <a:br/>
            <a:r>
              <a:t>• Bounded UI Interventions &amp; Cooldowns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643737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28282"/>
                </a:solidFill>
                <a:latin typeface="Inter"/>
              </a:defRPr>
            </a:pPr>
            <a:r>
              <a:t>FLOWSTATE RESEARCH PLATFORM   |   PHASE-I EVALUATION   |   SUPERVISOR: DR. SUDHEER KUMAR                                                     SLIDE 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// 08 // PHASE-I IMPLEMENTATION STATUS</a:t>
            </a:r>
          </a:p>
          <a:p>
            <a:pPr>
              <a:spcAft>
                <a:spcPts val="200"/>
              </a:spcAft>
              <a:defRPr sz="2600" b="1">
                <a:solidFill>
                  <a:srgbClr val="111111"/>
                </a:solidFill>
                <a:latin typeface="Helvetica Neue"/>
              </a:defRPr>
            </a:pPr>
            <a:r>
              <a:t>Initial Implementation &amp; Preliminary Verification</a:t>
            </a:r>
          </a:p>
          <a:p>
            <a:pPr>
              <a:defRPr sz="1300">
                <a:solidFill>
                  <a:srgbClr val="555555"/>
                </a:solidFill>
                <a:latin typeface="Inter"/>
              </a:defRPr>
            </a:pPr>
            <a:r>
              <a:t>Demonstrating verified 38% project milestone completion across core architecture and functional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16459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43891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023360" cy="4343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PHASE-I COMPLETION STATUS</a:t>
            </a:r>
          </a:p>
          <a:p>
            <a:pPr>
              <a:spcAft>
                <a:spcPts val="200"/>
              </a:spcAft>
              <a:defRPr sz="3600" b="1">
                <a:solidFill>
                  <a:srgbClr val="10955A"/>
                </a:solidFill>
                <a:latin typeface="Helvetica Neue"/>
              </a:defRPr>
            </a:pPr>
            <a:r>
              <a:t>38% COMPLETED</a:t>
            </a:r>
          </a:p>
          <a:p>
            <a:pPr>
              <a:spcAft>
                <a:spcPts val="800"/>
              </a:spcAft>
              <a:defRPr sz="1150" b="1">
                <a:solidFill>
                  <a:srgbClr val="111111"/>
                </a:solidFill>
                <a:latin typeface="Inter"/>
              </a:defRPr>
            </a:pPr>
            <a:r>
              <a:t>Minimum Target: 20% [SURPASSED]</a:t>
            </a:r>
            <a:br/>
            <a:r>
              <a:t>37/37 Unit Tests Passed in 0.52s</a:t>
            </a:r>
          </a:p>
          <a:p>
            <a:pPr>
              <a:defRPr sz="1100">
                <a:solidFill>
                  <a:srgbClr val="111111"/>
                </a:solidFill>
                <a:latin typeface="Inter"/>
              </a:defRPr>
            </a:pPr>
            <a:r>
              <a:t>MODULE STATUS CHECKLIST:</a:t>
            </a:r>
            <a:br/>
            <a:r>
              <a:t>✓ M01–M20 Architecture Specification (100%)</a:t>
            </a:r>
            <a:br/>
            <a:r>
              <a:t>✓ Ingestion &amp; Quality Service (100%)</a:t>
            </a:r>
            <a:br/>
            <a:r>
              <a:t>✓ 30s Window Sync &amp; Features (100%)</a:t>
            </a:r>
            <a:br/>
            <a:r>
              <a:t>✓ 37/37 Automated Unit Tests Passing (100%)</a:t>
            </a:r>
            <a:br/>
            <a:r>
              <a:t>✓ Deterministic 5-Phase Simulator (100%)</a:t>
            </a:r>
            <a:br/>
            <a:r>
              <a:t>✓ Interactive Arithmetic Task Telemetry (100%)</a:t>
            </a:r>
            <a:br/>
            <a:r>
              <a:t>→ Physical BLE Smartwatch GATT Pairing (40%)</a:t>
            </a:r>
            <a:br/>
            <a:r>
              <a:t>○ External Benchmark (WESAD Mapping - Planned)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1691640"/>
            <a:ext cx="6065215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ve_dashboard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737360"/>
            <a:ext cx="5973775" cy="32918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94960" y="5212080"/>
            <a:ext cx="6065215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24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525780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2457FF"/>
                </a:solidFill>
                <a:latin typeface="Inter"/>
              </a:defRPr>
            </a:pPr>
            <a:r>
              <a:t>PROTOTYPE VERIFICATION &amp; SCIENTIFIC SAFEGUARDS</a:t>
            </a:r>
          </a:p>
          <a:p>
            <a:pPr>
              <a:defRPr sz="1050">
                <a:solidFill>
                  <a:srgbClr val="111111"/>
                </a:solidFill>
                <a:latin typeface="Inter"/>
              </a:defRPr>
            </a:pPr>
            <a:r>
              <a:t>• 5-Phase Scenario Validated: Baseline (72 bpm) → Demand Escalation → High Workload (88% Conf) → Bounded Intervention → Recovery.</a:t>
            </a:r>
            <a:br/>
            <a:r>
              <a:t>• Zero Fabricated Metrics: Benchmarks labeled VALIDATION_PENDING until external WESAD construct mapping completes.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82512"/>
            <a:ext cx="10728655" cy="13716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437376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828282"/>
                </a:solidFill>
                <a:latin typeface="Inter"/>
              </a:defRPr>
            </a:pPr>
            <a:r>
              <a:t>FLOWSTATE RESEARCH PLATFORM   |   PHASE-I EVALUATION   |   SUPERVISOR: DR. SUDHEER KUMAR                                                     SLIDE 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